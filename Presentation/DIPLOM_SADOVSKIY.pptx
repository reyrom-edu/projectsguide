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6" r:id="rId7"/>
    <p:sldId id="263" r:id="rId8"/>
    <p:sldId id="265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180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E5F0-3FEF-4606-951C-5892DEFCB6E1}" type="datetimeFigureOut">
              <a:rPr lang="ru-RU" smtClean="0"/>
              <a:t>12.06.2023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7B1C-7D7C-4C96-97BE-B70FFC0B4B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4392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E5F0-3FEF-4606-951C-5892DEFCB6E1}" type="datetimeFigureOut">
              <a:rPr lang="ru-RU" smtClean="0"/>
              <a:t>12.06.2023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7B1C-7D7C-4C96-97BE-B70FFC0B4B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5359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E5F0-3FEF-4606-951C-5892DEFCB6E1}" type="datetimeFigureOut">
              <a:rPr lang="ru-RU" smtClean="0"/>
              <a:t>12.06.2023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7B1C-7D7C-4C96-97BE-B70FFC0B4B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68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E5F0-3FEF-4606-951C-5892DEFCB6E1}" type="datetimeFigureOut">
              <a:rPr lang="ru-RU" smtClean="0"/>
              <a:t>12.06.2023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7B1C-7D7C-4C96-97BE-B70FFC0B4B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786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E5F0-3FEF-4606-951C-5892DEFCB6E1}" type="datetimeFigureOut">
              <a:rPr lang="ru-RU" smtClean="0"/>
              <a:t>12.06.2023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7B1C-7D7C-4C96-97BE-B70FFC0B4B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101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E5F0-3FEF-4606-951C-5892DEFCB6E1}" type="datetimeFigureOut">
              <a:rPr lang="ru-RU" smtClean="0"/>
              <a:t>12.06.2023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7B1C-7D7C-4C96-97BE-B70FFC0B4B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290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E5F0-3FEF-4606-951C-5892DEFCB6E1}" type="datetimeFigureOut">
              <a:rPr lang="ru-RU" smtClean="0"/>
              <a:t>12.06.2023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7B1C-7D7C-4C96-97BE-B70FFC0B4B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5507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E5F0-3FEF-4606-951C-5892DEFCB6E1}" type="datetimeFigureOut">
              <a:rPr lang="ru-RU" smtClean="0"/>
              <a:t>12.06.2023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7B1C-7D7C-4C96-97BE-B70FFC0B4B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0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E5F0-3FEF-4606-951C-5892DEFCB6E1}" type="datetimeFigureOut">
              <a:rPr lang="ru-RU" smtClean="0"/>
              <a:t>12.06.2023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7B1C-7D7C-4C96-97BE-B70FFC0B4B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111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E5F0-3FEF-4606-951C-5892DEFCB6E1}" type="datetimeFigureOut">
              <a:rPr lang="ru-RU" smtClean="0"/>
              <a:t>12.06.2023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7B1C-7D7C-4C96-97BE-B70FFC0B4B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384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1E5F0-3FEF-4606-951C-5892DEFCB6E1}" type="datetimeFigureOut">
              <a:rPr lang="ru-RU" smtClean="0"/>
              <a:t>12.06.2023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C7B1C-7D7C-4C96-97BE-B70FFC0B4B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6119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E1E5F0-3FEF-4606-951C-5892DEFCB6E1}" type="datetimeFigureOut">
              <a:rPr lang="ru-RU" smtClean="0"/>
              <a:t>12.06.2023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C7B1C-7D7C-4C96-97BE-B70FFC0B4B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19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17741" y="2276872"/>
            <a:ext cx="8496944" cy="2448272"/>
          </a:xfrm>
        </p:spPr>
        <p:txBody>
          <a:bodyPr>
            <a:noAutofit/>
          </a:bodyPr>
          <a:lstStyle/>
          <a:p>
            <a:pPr fontAlgn="ctr">
              <a:lnSpc>
                <a:spcPct val="115000"/>
              </a:lnSpc>
              <a:spcBef>
                <a:spcPts val="0"/>
              </a:spcBef>
            </a:pPr>
            <a:r>
              <a:rPr lang="ru-RU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РАЗРАБОТКА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CASE-</a:t>
            </a:r>
            <a:r>
              <a:rPr lang="ru-RU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СРЕДСТВА ПРОЕКТИРОВАНИЯ КЛАССОВ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24123" y="4869160"/>
            <a:ext cx="6400800" cy="1440160"/>
          </a:xfrm>
        </p:spPr>
        <p:txBody>
          <a:bodyPr>
            <a:normAutofit fontScale="70000" lnSpcReduction="20000"/>
          </a:bodyPr>
          <a:lstStyle/>
          <a:p>
            <a:pPr algn="r"/>
            <a:r>
              <a:rPr lang="ru-RU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Дипломник ПКС-91:</a:t>
            </a:r>
          </a:p>
          <a:p>
            <a:pPr algn="r"/>
            <a:r>
              <a:rPr lang="ru-RU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Садовский Роман Викторович</a:t>
            </a:r>
          </a:p>
          <a:p>
            <a:pPr algn="r"/>
            <a:r>
              <a:rPr lang="ru-RU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Руководитель:</a:t>
            </a:r>
          </a:p>
          <a:p>
            <a:pPr algn="r"/>
            <a:r>
              <a:rPr lang="ru-RU" b="1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Маломан</a:t>
            </a:r>
            <a:r>
              <a:rPr lang="ru-RU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Юлия Сергеевна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07505" y="116632"/>
            <a:ext cx="891741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ФЕДЕРАЛЬНОЕ ГОСУДАРСТВЕННОЕ БЮДЖЕТНОЕ ОБРАЗОВАТЕЛЬНОЕ</a:t>
            </a:r>
            <a:endParaRPr lang="ru-RU" sz="1600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УЧРЕЖДЕНИЕ ВЫСШЕГО ОБРАЗОВАНИЯ</a:t>
            </a:r>
            <a:endParaRPr lang="ru-RU" sz="1600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«САНКТ-ПЕТЕРБУРГСКИЙ ГОСУДАРСТВЕННЫЙ УНИВЕРСИТЕТ</a:t>
            </a:r>
          </a:p>
          <a:p>
            <a:pPr algn="ctr"/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ТЕЛЕКОММУНИКАЦИЙ ИМ. ПРОФ. М.А. БОНЧ-БРУЕВИЧА»</a:t>
            </a:r>
            <a:endParaRPr lang="ru-RU" sz="1600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СПбГУТ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)</a:t>
            </a:r>
            <a:endParaRPr lang="ru-RU" sz="1600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 </a:t>
            </a:r>
            <a:endParaRPr lang="ru-RU" sz="1600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АРХАНГЕЛЬСКИЙ КОЛЛЕДЖ ТЕЛЕКОММУНИКАЦИЙ</a:t>
            </a:r>
            <a:endParaRPr lang="ru-RU" sz="1600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ИМ. Б.Л. РОЗИНГА (ФИЛИАЛ) </a:t>
            </a:r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СПбГУТ</a:t>
            </a:r>
            <a:endParaRPr lang="ru-RU" sz="1600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(АКТ (ф) </a:t>
            </a:r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СПбГУТ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)</a:t>
            </a:r>
            <a:endParaRPr lang="ru-RU" sz="1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60045" y="6370697"/>
            <a:ext cx="2212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solidFill>
                  <a:schemeClr val="tx2">
                    <a:lumMod val="75000"/>
                  </a:schemeClr>
                </a:solidFill>
              </a:rPr>
              <a:t>Архангельск 2023</a:t>
            </a:r>
          </a:p>
        </p:txBody>
      </p:sp>
    </p:spTree>
    <p:extLst>
      <p:ext uri="{BB962C8B-B14F-4D97-AF65-F5344CB8AC3E}">
        <p14:creationId xmlns:p14="http://schemas.microsoft.com/office/powerpoint/2010/main" val="2335706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Актуальность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1600200"/>
            <a:ext cx="8064896" cy="449309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CASE-средства позволяют разработчикам более эффективно управлять процессом проектирования классов, что может привести к сокращению времени разработки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ru-RU" dirty="0">
                <a:solidFill>
                  <a:schemeClr val="tx2">
                    <a:lumMod val="60000"/>
                    <a:lumOff val="40000"/>
                  </a:schemeClr>
                </a:solidFill>
              </a:rPr>
              <a:t>и улучшению качества кода. Кроме того, они помогают в управлении изменениями в классах, что делает процесс разработки более гибким и адаптивным к изменяющимся требованиям.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79512" y="116632"/>
            <a:ext cx="576064" cy="57606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2</a:t>
            </a:r>
            <a:endParaRPr lang="ru-RU" sz="36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9B11DE-1A85-4BC7-9237-A202016D5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1976" y="116632"/>
            <a:ext cx="1450504" cy="145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045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Цель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65980" y="1417638"/>
            <a:ext cx="7776864" cy="2376264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dirty="0">
                <a:solidFill>
                  <a:schemeClr val="tx2">
                    <a:lumMod val="60000"/>
                    <a:lumOff val="40000"/>
                  </a:schemeClr>
                </a:solidFill>
              </a:rPr>
              <a:t>Разработать CASE-средство проектирования классов, включающего проектирование диаграмм классов в нотации UML и генерацию кода на основе построенных диаграмм на различных объектно-ориентированных языках программирования.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79512" y="116632"/>
            <a:ext cx="576064" cy="57606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3</a:t>
            </a:r>
            <a:endParaRPr lang="ru-RU" sz="36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FD87B16-9E03-4EAA-BD44-5FCD1EDF2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78" y="4077072"/>
            <a:ext cx="3884818" cy="2218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27B8EC7-EDF2-43A8-8243-0D61A8A4B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3998069"/>
            <a:ext cx="2376264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Стрелка: вправо 6">
            <a:extLst>
              <a:ext uri="{FF2B5EF4-FFF2-40B4-BE49-F238E27FC236}">
                <a16:creationId xmlns:a16="http://schemas.microsoft.com/office/drawing/2014/main" id="{F2739B1A-1FCC-4B25-B0FA-9EA75BE6895B}"/>
              </a:ext>
            </a:extLst>
          </p:cNvPr>
          <p:cNvSpPr/>
          <p:nvPr/>
        </p:nvSpPr>
        <p:spPr>
          <a:xfrm>
            <a:off x="4649844" y="4946923"/>
            <a:ext cx="978408" cy="484632"/>
          </a:xfrm>
          <a:prstGeom prst="rightArrow">
            <a:avLst>
              <a:gd name="adj1" fmla="val 50000"/>
              <a:gd name="adj2" fmla="val 112244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4894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7992888" cy="1143000"/>
          </a:xfrm>
        </p:spPr>
        <p:txBody>
          <a:bodyPr>
            <a:noAutofit/>
          </a:bodyPr>
          <a:lstStyle/>
          <a:p>
            <a:pPr>
              <a:lnSpc>
                <a:spcPct val="70000"/>
              </a:lnSpc>
            </a:pPr>
            <a:r>
              <a:rPr lang="ru-RU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Задачи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79512" y="116632"/>
            <a:ext cx="576064" cy="57606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/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A79887-E945-476D-80C8-A5DA631B7B28}"/>
              </a:ext>
            </a:extLst>
          </p:cNvPr>
          <p:cNvSpPr txBox="1"/>
          <p:nvPr/>
        </p:nvSpPr>
        <p:spPr>
          <a:xfrm>
            <a:off x="467544" y="1575644"/>
            <a:ext cx="842493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accent1"/>
                </a:solidFill>
              </a:rPr>
              <a:t>провести сбор и анализ требований,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accent1"/>
                </a:solidFill>
              </a:rPr>
              <a:t>выбрать ПО для разработки программного продукта,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accent1"/>
                </a:solidFill>
              </a:rPr>
              <a:t>изучить UML-нотацию для диаграмм классов и синтаксис языков программирования </a:t>
            </a:r>
            <a:r>
              <a:rPr lang="en-US" sz="3200" dirty="0">
                <a:solidFill>
                  <a:schemeClr val="accent1"/>
                </a:solidFill>
              </a:rPr>
              <a:t>C#, Java, Kotlin, Python</a:t>
            </a:r>
            <a:r>
              <a:rPr lang="ru-RU" sz="3200" dirty="0">
                <a:solidFill>
                  <a:schemeClr val="accent1"/>
                </a:solidFill>
              </a:rPr>
              <a:t>,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accent1"/>
                </a:solidFill>
              </a:rPr>
              <a:t>спроектировать структуру и интерфейс приложения,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accent1"/>
                </a:solidFill>
              </a:rPr>
              <a:t>разработать приложение,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accent1"/>
                </a:solidFill>
              </a:rPr>
              <a:t>провести тестирование 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875315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58742"/>
            <a:ext cx="8229600" cy="1143000"/>
          </a:xfrm>
        </p:spPr>
        <p:txBody>
          <a:bodyPr/>
          <a:lstStyle/>
          <a:p>
            <a:r>
              <a:rPr lang="ru-RU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Выбор средств разработки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79512" y="116632"/>
            <a:ext cx="576064" cy="57606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/>
              <a:t>5</a:t>
            </a:r>
          </a:p>
        </p:txBody>
      </p:sp>
      <p:pic>
        <p:nvPicPr>
          <p:cNvPr id="6150" name="Picture 6" descr="https://rafiquzzamanrafi.gallerycdn.vsassets.io/extensions/rafiquzzamanrafi/visualstudiolightpro/1.0/1632225226691/Microsoft.VisualStudio.Services.Icons.Defaul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140" y="1574370"/>
            <a:ext cx="2840076" cy="177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https://thedigitalprojectmanager.b-cdn.net/wp-content/uploads/2019/07/Draw.io-logo-Flowchart-Softwar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896" y="3929017"/>
            <a:ext cx="2139752" cy="2139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54836" y="3291213"/>
            <a:ext cx="25426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Visual Studio 2022</a:t>
            </a:r>
            <a:endParaRPr lang="ru-RU" sz="24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4860" y="6068769"/>
            <a:ext cx="1887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diagrams.net</a:t>
            </a:r>
            <a:endParaRPr lang="ru-RU" sz="24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" name="Picture 2" descr="https://www.simplilearn.com/ice9/free_resources_article_thumb/First_Programming_Language_Csharp.png">
            <a:extLst>
              <a:ext uri="{FF2B5EF4-FFF2-40B4-BE49-F238E27FC236}">
                <a16:creationId xmlns:a16="http://schemas.microsoft.com/office/drawing/2014/main" id="{827D9F19-FEDD-483E-BBD2-494A4E47A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2164" y="2992913"/>
            <a:ext cx="3328370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2634E10-3177-44AE-A944-32DC979D80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00" y="1356907"/>
            <a:ext cx="2139752" cy="213975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B69A491-EA71-4A4A-BCF4-CA9177C725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1731" y="4210789"/>
            <a:ext cx="1576208" cy="15762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93C9560-F352-4F2E-A0D8-E4C7FD5FD0B9}"/>
              </a:ext>
            </a:extLst>
          </p:cNvPr>
          <p:cNvSpPr txBox="1"/>
          <p:nvPr/>
        </p:nvSpPr>
        <p:spPr>
          <a:xfrm>
            <a:off x="6454530" y="5979099"/>
            <a:ext cx="19750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IcoMoon</a:t>
            </a: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-Free</a:t>
            </a:r>
            <a:endParaRPr lang="ru-RU" sz="24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E8F833-0B21-4995-9C73-AA42AC7D1BDE}"/>
              </a:ext>
            </a:extLst>
          </p:cNvPr>
          <p:cNvSpPr txBox="1"/>
          <p:nvPr/>
        </p:nvSpPr>
        <p:spPr>
          <a:xfrm>
            <a:off x="4395318" y="4998893"/>
            <a:ext cx="5020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С</a:t>
            </a: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#</a:t>
            </a:r>
            <a:endParaRPr lang="ru-RU" sz="24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556DB5-8018-4F38-94A4-9B0EA5BBF2D7}"/>
              </a:ext>
            </a:extLst>
          </p:cNvPr>
          <p:cNvSpPr txBox="1"/>
          <p:nvPr/>
        </p:nvSpPr>
        <p:spPr>
          <a:xfrm>
            <a:off x="5897786" y="3283741"/>
            <a:ext cx="30871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Windows Presentation Foundation</a:t>
            </a:r>
            <a:endParaRPr lang="ru-RU" sz="24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543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7D4B5D-B4FC-46B1-9F19-D75B80870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Технико-экономическое обоснование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9629855D-1996-44E8-B2E7-42B590043C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252" y="1575644"/>
            <a:ext cx="5837495" cy="4350141"/>
          </a:xfr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0750B4F-C75A-4D58-A927-CFF97BE6B509}"/>
              </a:ext>
            </a:extLst>
          </p:cNvPr>
          <p:cNvSpPr/>
          <p:nvPr/>
        </p:nvSpPr>
        <p:spPr>
          <a:xfrm>
            <a:off x="179512" y="116632"/>
            <a:ext cx="576064" cy="57606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/>
              <a:t>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EE5BCD-CDCE-4365-BCCB-AF62B63A8034}"/>
              </a:ext>
            </a:extLst>
          </p:cNvPr>
          <p:cNvSpPr txBox="1"/>
          <p:nvPr/>
        </p:nvSpPr>
        <p:spPr>
          <a:xfrm>
            <a:off x="1693743" y="6074538"/>
            <a:ext cx="57565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Диаграмма затрат на разработку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623253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Заключение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79512" y="116632"/>
            <a:ext cx="576064" cy="57606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/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5194" y="1407759"/>
            <a:ext cx="8229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buNone/>
            </a:pPr>
            <a:r>
              <a:rPr lang="ru-RU" sz="3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Разработано CASE-средство проектирования классов, с возможностью проектирования диаграмм классов в нотации UML и генерации кода на основе построенных диаграмм на различных объектно-ориентированных языках программирования.</a:t>
            </a:r>
            <a:endParaRPr lang="ru-RU" sz="32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47C9241-78C0-4157-8E60-C1039DE0A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379" y="4670682"/>
            <a:ext cx="1779241" cy="183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096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17741" y="2276872"/>
            <a:ext cx="8496944" cy="2448272"/>
          </a:xfrm>
        </p:spPr>
        <p:txBody>
          <a:bodyPr>
            <a:noAutofit/>
          </a:bodyPr>
          <a:lstStyle/>
          <a:p>
            <a:pPr fontAlgn="ctr">
              <a:lnSpc>
                <a:spcPct val="115000"/>
              </a:lnSpc>
              <a:spcBef>
                <a:spcPts val="0"/>
              </a:spcBef>
            </a:pPr>
            <a:r>
              <a:rPr lang="ru-RU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РАЗРАБОТКА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CASE-</a:t>
            </a:r>
            <a:r>
              <a:rPr lang="ru-RU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СРЕДСТВА ПРОЕКТИРОВАНИЯ КЛАССОВ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24123" y="4869160"/>
            <a:ext cx="6400800" cy="1440160"/>
          </a:xfrm>
        </p:spPr>
        <p:txBody>
          <a:bodyPr>
            <a:normAutofit fontScale="70000" lnSpcReduction="20000"/>
          </a:bodyPr>
          <a:lstStyle/>
          <a:p>
            <a:pPr algn="r"/>
            <a:r>
              <a:rPr lang="ru-RU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Дипломник ПКС-91:</a:t>
            </a:r>
          </a:p>
          <a:p>
            <a:pPr algn="r"/>
            <a:r>
              <a:rPr lang="ru-RU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Садовский Роман Викторович</a:t>
            </a:r>
          </a:p>
          <a:p>
            <a:pPr algn="r"/>
            <a:r>
              <a:rPr lang="ru-RU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Руководитель:</a:t>
            </a:r>
          </a:p>
          <a:p>
            <a:pPr algn="r"/>
            <a:r>
              <a:rPr lang="ru-RU" b="1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Маломан</a:t>
            </a:r>
            <a:r>
              <a:rPr lang="ru-RU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Юлия Сергеевна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07505" y="116632"/>
            <a:ext cx="891741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ФЕДЕРАЛЬНОЕ ГОСУДАРСТВЕННОЕ БЮДЖЕТНОЕ ОБРАЗОВАТЕЛЬНОЕ</a:t>
            </a:r>
            <a:endParaRPr lang="ru-RU" sz="1600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УЧРЕЖДЕНИЕ ВЫСШЕГО ОБРАЗОВАНИЯ</a:t>
            </a:r>
            <a:endParaRPr lang="ru-RU" sz="1600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«САНКТ-ПЕТЕРБУРГСКИЙ ГОСУДАРСТВЕННЫЙ УНИВЕРСИТЕТ</a:t>
            </a:r>
          </a:p>
          <a:p>
            <a:pPr algn="ctr"/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ТЕЛЕКОММУНИКАЦИЙ ИМ. ПРОФ. М.А. БОНЧ-БРУЕВИЧА»</a:t>
            </a:r>
            <a:endParaRPr lang="ru-RU" sz="1600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СПбГУТ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)</a:t>
            </a:r>
            <a:endParaRPr lang="ru-RU" sz="1600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 </a:t>
            </a:r>
            <a:endParaRPr lang="ru-RU" sz="1600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АРХАНГЕЛЬСКИЙ КОЛЛЕДЖ ТЕЛЕКОММУНИКАЦИЙ</a:t>
            </a:r>
            <a:endParaRPr lang="ru-RU" sz="1600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ИМ. Б.Л. РОЗИНГА (ФИЛИАЛ) </a:t>
            </a:r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СПбГУТ</a:t>
            </a:r>
            <a:endParaRPr lang="ru-RU" sz="1600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(АКТ (ф) </a:t>
            </a:r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СПбГУТ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)</a:t>
            </a:r>
            <a:endParaRPr lang="ru-RU" sz="1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60045" y="6370697"/>
            <a:ext cx="2212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solidFill>
                  <a:schemeClr val="tx2">
                    <a:lumMod val="75000"/>
                  </a:schemeClr>
                </a:solidFill>
              </a:rPr>
              <a:t>Архангельск 2023</a:t>
            </a:r>
          </a:p>
        </p:txBody>
      </p:sp>
    </p:spTree>
    <p:extLst>
      <p:ext uri="{BB962C8B-B14F-4D97-AF65-F5344CB8AC3E}">
        <p14:creationId xmlns:p14="http://schemas.microsoft.com/office/powerpoint/2010/main" val="2848546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301</Words>
  <Application>Microsoft Office PowerPoint</Application>
  <PresentationFormat>Экран (4:3)</PresentationFormat>
  <Paragraphs>57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Тема Office</vt:lpstr>
      <vt:lpstr>РАЗРАБОТКА CASE-СРЕДСТВА ПРОЕКТИРОВАНИЯ КЛАССОВ</vt:lpstr>
      <vt:lpstr>Актуальность</vt:lpstr>
      <vt:lpstr>Цель</vt:lpstr>
      <vt:lpstr>Задачи</vt:lpstr>
      <vt:lpstr>Выбор средств разработки</vt:lpstr>
      <vt:lpstr>Технико-экономическое обоснование</vt:lpstr>
      <vt:lpstr>Заключение</vt:lpstr>
      <vt:lpstr>РАЗРАБОТКА CASE-СРЕДСТВА ПРОЕКТИРОВАНИЯ КЛАССОВ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ИНФОРМАЦИОННО-ОБРАЗОВАТЕЛЬНОГО ЗАЩИЩЕННОГО ФАЙЛ-СЕРВЕРА «VORTEXFILE»</dc:title>
  <dc:creator>Роман Садовский</dc:creator>
  <cp:lastModifiedBy>Роман Садовский</cp:lastModifiedBy>
  <cp:revision>33</cp:revision>
  <dcterms:created xsi:type="dcterms:W3CDTF">2022-12-09T17:06:32Z</dcterms:created>
  <dcterms:modified xsi:type="dcterms:W3CDTF">2023-06-12T17:35:55Z</dcterms:modified>
</cp:coreProperties>
</file>