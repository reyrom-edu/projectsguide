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1" r:id="rId6"/>
    <p:sldId id="269" r:id="rId7"/>
    <p:sldId id="263" r:id="rId8"/>
    <p:sldId id="268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2" autoAdjust="0"/>
    <p:restoredTop sz="78175" autoAdjust="0"/>
  </p:normalViewPr>
  <p:slideViewPr>
    <p:cSldViewPr>
      <p:cViewPr varScale="1">
        <p:scale>
          <a:sx n="104" d="100"/>
          <a:sy n="104" d="100"/>
        </p:scale>
        <p:origin x="110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all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            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E41-4800-91AE-43CAF1B123C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E41-4800-91AE-43CAF1B123C8}"/>
              </c:ext>
            </c:extLst>
          </c:dPt>
          <c:dPt>
            <c:idx val="2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E41-4800-91AE-43CAF1B123C8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E41-4800-91AE-43CAF1B123C8}"/>
              </c:ext>
            </c:extLst>
          </c:dPt>
          <c:dPt>
            <c:idx val="4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E41-4800-91AE-43CAF1B123C8}"/>
              </c:ext>
            </c:extLst>
          </c:dPt>
          <c:dLbls>
            <c:dLbl>
              <c:idx val="0"/>
              <c:layout>
                <c:manualLayout>
                  <c:x val="5.677128900554089E-2"/>
                  <c:y val="-0.13730814898137725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650462962962963"/>
                      <c:h val="0.1572025371828521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E41-4800-91AE-43CAF1B123C8}"/>
                </c:ext>
              </c:extLst>
            </c:dLbl>
            <c:dLbl>
              <c:idx val="1"/>
              <c:layout>
                <c:manualLayout>
                  <c:x val="0"/>
                  <c:y val="7.3364579427571547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80555555555555"/>
                      <c:h val="0.2172619047619047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E41-4800-91AE-43CAF1B123C8}"/>
                </c:ext>
              </c:extLst>
            </c:dLbl>
            <c:dLbl>
              <c:idx val="2"/>
              <c:layout>
                <c:manualLayout>
                  <c:x val="-7.4526283172936719E-2"/>
                  <c:y val="-0.1171081739782527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41-4800-91AE-43CAF1B123C8}"/>
                </c:ext>
              </c:extLst>
            </c:dLbl>
            <c:dLbl>
              <c:idx val="3"/>
              <c:layout>
                <c:manualLayout>
                  <c:x val="-2.1440197579469234E-2"/>
                  <c:y val="-1.8752030996125484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41-4800-91AE-43CAF1B123C8}"/>
                </c:ext>
              </c:extLst>
            </c:dLbl>
            <c:dLbl>
              <c:idx val="4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4E41-4800-91AE-43CAF1B123C8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Лист1!$A$2:$A$6</c:f>
              <c:strCache>
                <c:ptCount val="5"/>
                <c:pt idx="0">
                  <c:v>Издержки на заработную плату</c:v>
                </c:pt>
                <c:pt idx="1">
                  <c:v>Издержки на амортизационные расходы</c:v>
                </c:pt>
                <c:pt idx="2">
                  <c:v>Издержки на электроэнергию</c:v>
                </c:pt>
                <c:pt idx="3">
                  <c:v>Издержки на страховые взносы с оплаты труда</c:v>
                </c:pt>
                <c:pt idx="4">
                  <c:v>Издержки на прочие и накладные расходы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29842</c:v>
                </c:pt>
                <c:pt idx="1">
                  <c:v>0</c:v>
                </c:pt>
                <c:pt idx="2">
                  <c:v>310.54000000000002</c:v>
                </c:pt>
                <c:pt idx="3">
                  <c:v>8952.6</c:v>
                </c:pt>
                <c:pt idx="4">
                  <c:v>4345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41-4800-91AE-43CAF1B123C8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1C106-3ACB-447D-9B74-D045EFCDE6AD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53E34-3838-4019-9F31-604246896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60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48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40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132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13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334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293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53E34-3838-4019-9F31-604246896D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404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39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35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68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78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10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90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5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11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8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11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1E5F0-3FEF-4606-951C-5892DEFCB6E1}" type="datetimeFigureOut">
              <a:rPr lang="ru-RU" smtClean="0"/>
              <a:t>07.06.2023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12118" y="2276872"/>
            <a:ext cx="9356664" cy="1656184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РАЗРАБОТКА </a:t>
            </a:r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ЭЛЕКТРОННОГО ПОСОБИЯ</a:t>
            </a:r>
            <a:b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«ОСНОВЫ ПСИХОЛОГИИ ЛИЧНОСТИ»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4123" y="4293096"/>
            <a:ext cx="6400800" cy="2016224"/>
          </a:xfrm>
        </p:spPr>
        <p:txBody>
          <a:bodyPr>
            <a:normAutofit/>
          </a:bodyPr>
          <a:lstStyle/>
          <a:p>
            <a:pPr algn="r"/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Дипломник:</a:t>
            </a:r>
          </a:p>
          <a:p>
            <a:pPr algn="r"/>
            <a:r>
              <a:rPr lang="ru-RU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Бородяев Семен Романович</a:t>
            </a:r>
          </a:p>
          <a:p>
            <a:pPr algn="r"/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Руководитель:</a:t>
            </a:r>
          </a:p>
          <a:p>
            <a:pPr algn="r"/>
            <a:r>
              <a:rPr lang="ru-RU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Садков Анатолий Александрович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05" y="116632"/>
            <a:ext cx="89174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ФЕДЕРАЛЬНОЕ ГОСУДАРСТВЕННОЕ БЮДЖЕТНОЕ ОБРАЗОВАТЕЛЬНОЕ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УЧРЕЖДЕНИЕ ВЫСШЕГО ОБРАЗОВАНИЯ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«САНКТ-ПЕТЕРБУРГСКИЙ ГОСУДАРСТВЕННЫЙ УНИВЕРСИТЕТ ТЕЛЕКОММУНИКАЦИЙ ИМ. ПРОФ.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М.А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 БОНЧ-БРУЕВИЧА»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algn="ctr"/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АРХАНГЕЛЬСКИЙ КОЛЛЕДЖ ТЕЛЕКОММУНИКАЦИЙ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ИМ.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Б.Л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РОЗИНГА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(ФИЛИАЛ)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(АКТ (ф)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algn="ctr"/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0045" y="6370697"/>
            <a:ext cx="2666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accent4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Архангельск 2023</a:t>
            </a:r>
          </a:p>
        </p:txBody>
      </p:sp>
    </p:spTree>
    <p:extLst>
      <p:ext uri="{BB962C8B-B14F-4D97-AF65-F5344CB8AC3E}">
        <p14:creationId xmlns:p14="http://schemas.microsoft.com/office/powerpoint/2010/main" val="233570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9815"/>
            <a:ext cx="8229600" cy="2515418"/>
          </a:xfrm>
        </p:spPr>
        <p:txBody>
          <a:bodyPr>
            <a:normAutofit/>
          </a:bodyPr>
          <a:lstStyle/>
          <a:p>
            <a:pPr marL="0" indent="0" algn="ctr" hangingPunct="0">
              <a:buNone/>
            </a:pPr>
            <a:r>
              <a:rPr lang="ru-RU" sz="28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Обучающие программы позволяют пользователю в удобном формате получать доступ к лекциям и автоматизировать процесс тестирования, для которого не потребуется проверка ответов человеком.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ru-RU" sz="2000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F1AFFF-51E8-4F60-986C-AFEC3E001E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125233"/>
            <a:ext cx="3515308" cy="2343539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8404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on holding pencil near laptop computer">
            <a:extLst>
              <a:ext uri="{FF2B5EF4-FFF2-40B4-BE49-F238E27FC236}">
                <a16:creationId xmlns:a16="http://schemas.microsoft.com/office/drawing/2014/main" id="{379B1B50-1BE6-47A3-BA0A-19CE06912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238729"/>
            <a:ext cx="3301700" cy="22022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Цель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670756"/>
            <a:ext cx="7632848" cy="25922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Разработать электронное пособие по предмету «Основы психологии личности», предназначенного для упрощения процесса обучения по данной дисциплине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ru-RU" sz="2000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89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028D4-0C21-4728-824C-CB6B1E76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Задачи</a:t>
            </a:r>
            <a:endParaRPr lang="ru-RU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31933-58E4-46C8-9DCA-DD3886EF3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600200"/>
            <a:ext cx="8003232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отображение лекционного материала,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предоставление пользователю возможности прохождения тестирования по выбранной теме,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предоставление пользователю возможности просмотра полученного результата,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предоставление пользователю возможности импортировать и экспортировать файлы лекций и тестирования,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предоставление администратору возможности редактировать файлы лекций и тестирования,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шифрование файлов тестирования. 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58B9AD-59B8-450E-96E6-15A2757C3CC6}"/>
              </a:ext>
            </a:extLst>
          </p:cNvPr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956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Программные средства разработки</a:t>
            </a:r>
          </a:p>
        </p:txBody>
      </p:sp>
      <p:pic>
        <p:nvPicPr>
          <p:cNvPr id="6150" name="Picture 6" descr="https://rafiquzzamanrafi.gallerycdn.vsassets.io/extensions/rafiquzzamanrafi/visualstudiolightpro/1.0/1632225226691/Microsoft.VisualStudio.Services.Icons.Defaul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66690"/>
            <a:ext cx="1976235" cy="123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s://thedigitalprojectmanager.b-cdn.net/wp-content/uploads/2019/07/Draw.io-logo-Flowchart-Softwar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26777"/>
            <a:ext cx="1569501" cy="155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35875" y="1999487"/>
            <a:ext cx="464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Microsoft Visual Studio 2022</a:t>
            </a:r>
            <a:endParaRPr lang="ru-RU" sz="2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35875" y="3441802"/>
            <a:ext cx="143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solidFill>
                  <a:schemeClr val="accent6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Draw.IO</a:t>
            </a:r>
            <a:endParaRPr lang="ru-R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010AA21-4872-4DF6-B1B2-D74F6AC54F25}"/>
              </a:ext>
            </a:extLst>
          </p:cNvPr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endParaRPr lang="ru-RU" sz="2000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A57FEAB-4979-43CD-8434-71457A2C5A95}"/>
              </a:ext>
            </a:extLst>
          </p:cNvPr>
          <p:cNvSpPr txBox="1"/>
          <p:nvPr/>
        </p:nvSpPr>
        <p:spPr>
          <a:xfrm>
            <a:off x="2935876" y="4890055"/>
            <a:ext cx="2500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rPr>
              <a:t>Notepad++</a:t>
            </a:r>
            <a:endParaRPr lang="ru-RU" sz="2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+mj-c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DE726B9-08F4-4A5F-AA17-528CD5BC04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707792"/>
            <a:ext cx="1247373" cy="94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4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E7502-3FCB-4744-BDC9-E8276F51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Экономическая часть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51BA014-44CC-40BD-B6C0-A6ED9860D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350752"/>
              </p:ext>
            </p:extLst>
          </p:nvPr>
        </p:nvGraphicFramePr>
        <p:xfrm>
          <a:off x="1619672" y="1628800"/>
          <a:ext cx="5626968" cy="3268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047C37-4A93-4827-AA56-3097C25FF128}"/>
              </a:ext>
            </a:extLst>
          </p:cNvPr>
          <p:cNvSpPr/>
          <p:nvPr/>
        </p:nvSpPr>
        <p:spPr>
          <a:xfrm>
            <a:off x="1994560" y="5229200"/>
            <a:ext cx="4854214" cy="581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tabLst>
                <a:tab pos="2970530" algn="ctr"/>
                <a:tab pos="5941060" algn="r"/>
              </a:tabLst>
            </a:pPr>
            <a:r>
              <a:rPr lang="ru-RU" sz="24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Рисунок 1 – Диаграмма затрат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D88499-9BF3-46EA-BD4A-23C24B2E9627}"/>
              </a:ext>
            </a:extLst>
          </p:cNvPr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r>
            <a:endParaRPr lang="ru-RU" sz="2000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8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Заключение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E4A3E8-B206-458B-BBDD-1E112DF4C716}"/>
              </a:ext>
            </a:extLst>
          </p:cNvPr>
          <p:cNvSpPr/>
          <p:nvPr/>
        </p:nvSpPr>
        <p:spPr>
          <a:xfrm>
            <a:off x="8778263" y="6457890"/>
            <a:ext cx="33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284FD11-9A98-40DF-98DD-6BD1E370B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600200"/>
            <a:ext cx="8003232" cy="4525963"/>
          </a:xfrm>
        </p:spPr>
        <p:txBody>
          <a:bodyPr>
            <a:normAutofit/>
          </a:bodyPr>
          <a:lstStyle/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реализовано отображение лекционного материала,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реализована возможность прохождения тестирования по выбранной теме,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реализована возможность просмотра полученного результата,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добавлен функционал импорта и экспорта файлов лекций и тестирования,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создан редактор лекций и тестирования,</a:t>
            </a:r>
          </a:p>
          <a:p>
            <a:pPr lvl="0"/>
            <a:r>
              <a:rPr lang="ru-RU" sz="2600" dirty="0">
                <a:solidFill>
                  <a:schemeClr val="accent4">
                    <a:lumMod val="75000"/>
                  </a:schemeClr>
                </a:solidFill>
              </a:rPr>
              <a:t>реализовано шифрование файлов тестирования.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509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12118" y="2276872"/>
            <a:ext cx="9356664" cy="1656184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РАЗРАБОТКА </a:t>
            </a:r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ЭЛЕКТРОННОГО ПОСОБИЯ</a:t>
            </a:r>
            <a:b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ru-RU" sz="28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«ОСНОВЫ ПСИХОЛОГИИ ЛИЧНОСТИ»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4123" y="4293096"/>
            <a:ext cx="6400800" cy="2016224"/>
          </a:xfrm>
        </p:spPr>
        <p:txBody>
          <a:bodyPr>
            <a:normAutofit/>
          </a:bodyPr>
          <a:lstStyle/>
          <a:p>
            <a:pPr algn="r"/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Дипломник:</a:t>
            </a:r>
          </a:p>
          <a:p>
            <a:pPr algn="r"/>
            <a:r>
              <a:rPr lang="ru-RU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Бородяев Семен Романович</a:t>
            </a:r>
          </a:p>
          <a:p>
            <a:pPr algn="r"/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Руководитель:</a:t>
            </a:r>
          </a:p>
          <a:p>
            <a:pPr algn="r"/>
            <a:r>
              <a:rPr lang="ru-RU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Садков Анатолий Александрович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05" y="116632"/>
            <a:ext cx="89174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ФЕДЕРАЛЬНОЕ ГОСУДАРСТВЕННОЕ БЮДЖЕТНОЕ ОБРАЗОВАТЕЛЬНОЕ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УЧРЕЖДЕНИЕ ВЫСШЕГО ОБРАЗОВАНИЯ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«САНКТ-ПЕТЕРБУРГСКИЙ ГОСУДАРСТВЕННЫЙ УНИВЕРСИТЕТ ТЕЛЕКОММУНИКАЦИЙ ИМ. ПРОФ.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М.А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 БОНЧ-БРУЕВИЧА»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algn="ctr"/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АРХАНГЕЛЬСКИЙ КОЛЛЕДЖ ТЕЛЕКОММУНИКАЦИЙ</a:t>
            </a: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ИМ.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Б.Л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РОЗИНГА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(ФИЛИАЛ)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(АКТ (ф) </a:t>
            </a:r>
            <a:r>
              <a:rPr lang="ru-RU" sz="1400" b="1" dirty="0" err="1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СПбГУТ</a:t>
            </a:r>
            <a:r>
              <a:rPr lang="ru-RU" sz="1400" b="1" dirty="0">
                <a:solidFill>
                  <a:schemeClr val="accent4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algn="ctr"/>
            <a:endParaRPr lang="ru-RU" sz="1400" b="1" dirty="0">
              <a:solidFill>
                <a:schemeClr val="accent4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0045" y="6370697"/>
            <a:ext cx="2666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accent4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Архангельск 2023</a:t>
            </a:r>
          </a:p>
        </p:txBody>
      </p:sp>
    </p:spTree>
    <p:extLst>
      <p:ext uri="{BB962C8B-B14F-4D97-AF65-F5344CB8AC3E}">
        <p14:creationId xmlns:p14="http://schemas.microsoft.com/office/powerpoint/2010/main" val="339984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290</Words>
  <Application>Microsoft Office PowerPoint</Application>
  <PresentationFormat>Экран (4:3)</PresentationFormat>
  <Paragraphs>71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Microsoft YaHei UI</vt:lpstr>
      <vt:lpstr>Arial</vt:lpstr>
      <vt:lpstr>Calibri</vt:lpstr>
      <vt:lpstr>Тема Office</vt:lpstr>
      <vt:lpstr>РАЗРАБОТКА ЭЛЕКТРОННОГО ПОСОБИЯ «ОСНОВЫ ПСИХОЛОГИИ ЛИЧНОСТИ»</vt:lpstr>
      <vt:lpstr>Актуальность</vt:lpstr>
      <vt:lpstr>Цель</vt:lpstr>
      <vt:lpstr>Задачи</vt:lpstr>
      <vt:lpstr>Программные средства разработки</vt:lpstr>
      <vt:lpstr>Экономическая часть</vt:lpstr>
      <vt:lpstr>Заключение</vt:lpstr>
      <vt:lpstr>РАЗРАБОТКА ЭЛЕКТРОННОГО ПОСОБИЯ «ОСНОВЫ ПСИХОЛОГИИ ЛИЧНОСТИ»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лучшего приложения для скурного(secure) хранения данных</dc:title>
  <dc:creator>Администрация приложения SaC</dc:creator>
  <cp:lastModifiedBy>Семён Бородяев</cp:lastModifiedBy>
  <cp:revision>32</cp:revision>
  <dcterms:created xsi:type="dcterms:W3CDTF">2022-12-09T17:06:32Z</dcterms:created>
  <dcterms:modified xsi:type="dcterms:W3CDTF">2023-06-07T10:39:10Z</dcterms:modified>
</cp:coreProperties>
</file>